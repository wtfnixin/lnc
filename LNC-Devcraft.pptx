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70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BB35B-15DF-1563-E1E6-3845FCA76C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E6EE55-FF90-A823-16A1-6F6450F84E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A645E6-E02A-630E-9E35-B55098524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67CFF2-04C4-D152-4B8C-AFED00A05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AB12CE-DCE2-96EF-7CEE-8E5D563EE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68189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16BCA-7DA4-AC5D-DB5B-BF00F775E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EA1BD7-71AC-9349-A609-C51E816F4E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8B6FAA-61B0-77BB-CEF0-F1CF07A34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96C92B-15E0-3E8F-AD28-102BD8E9B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3FF385-A966-EA8E-0ECE-49D772CAF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2210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08E79-18B3-6824-A352-5DD67F9E0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F9A1D8-509A-42D0-50B0-76D2447C33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907469-EB53-4791-3819-CB948CDA0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B43A63-86B2-56C2-146C-375C09EF7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EB58CA-558F-0BA3-2E77-81074CAA5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5767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720D9-4F99-6D14-D995-CAA15D3F8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599739-08A2-9366-52EB-7D3C17D39C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1E9B05-C5F0-60AB-4006-D800F2FCBC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445333-A7F4-9901-56FD-ACDD167DE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A76C3F-6B03-39CA-5636-A61F11DF6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F9D20D-CA3D-5E6B-0E76-D97F909C1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3798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97F43-199E-9BCE-4D50-8954E0BE8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6944D7-22FF-36E1-07F6-22B641C1A8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CD578C-0C27-36FD-D472-D82FECC0B4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7E7AE5-1AAE-E65C-8B3C-DFFEBDDFC6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CFE1B1-3F36-0693-EC88-BD4DD6BA76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BC6DC3-E138-7203-3032-7A1B1C8F7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CA86E1-47F6-C489-4161-38C1E5B29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72C850-8984-D4A3-A7DE-A2403DF60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31251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610CE-4398-0C10-BE9E-9D6A4199D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E4C36B-338F-4187-B505-9F3CCC6AA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00D226-7EC5-6E85-9BBB-1CCA90967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EED67B-ACA7-C075-7748-E1BB773FA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2969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5109B3-7EF0-CD32-1BFA-5328B75A0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EA2E8F-C387-572C-CD62-8CF7A66F6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D60C2C-1F2B-51AB-C9F8-19DB99925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56199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C6AEC-9BA0-FC55-91D9-596305A8D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0FD214-E3F2-EEB2-2959-022E2A6FF6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20B84B-ADF1-B398-7318-B2C5B1F957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3AFB36-A21B-414B-9428-9E72946DE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F86F34-1B4B-6F27-5041-44614842D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A251D5-4BB1-F69B-6B1F-7E84E1620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2675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82E39-BD9F-5C3C-D08A-AB8A6285B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602E83-9BBB-546C-6579-DB76899944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681896-3FD0-751E-CB7B-EA1C04BDBB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28E466-427F-63B4-ED25-284497B2E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59ABBE-94A1-F6B9-10C0-40671AE59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934366-3637-7934-0DF7-A5830FB11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3853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7C403-1CBB-80EC-73A8-3EDB4CFC9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964E7E-9512-F79C-3FD5-4EBFF865A8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84D681-3469-5E46-6E8F-BB3E5942B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4237A4-C073-9A53-503A-8B3D7CE91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9EE962-73F4-EA2D-AED4-1273FAF76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557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782872-BD1F-5FE4-6E63-AD318388EC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91EE48-43E8-58C9-147D-9441A51774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85C8A8-3FED-5156-3D67-A68A70FF6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18C20D-3E76-6CC2-EA7D-E05C92D04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F1B5D8-51DD-5D53-BABF-6B8E5E548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4708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90BA52-6A8D-EDB3-CBD0-0AAD804FA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128725-ED4F-0BC9-E489-8DF39A73F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D81F21-289C-BD44-047B-155F9FB921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7B1A81-041A-5B2C-CADF-7173BB18DD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89948D-7CCA-4327-C4DE-AA33A24A47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0676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FFA9D-AA8C-183A-340F-4284C2533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700F163-E7FA-1B2C-D5E0-4ABC6D628E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BD2B560-468C-AE00-FD08-190FAA9C2C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SENTRI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88AD9CD-CFB0-97F2-617B-EF142013269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524000" y="3552756"/>
            <a:ext cx="4715715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Project Name: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alt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SENTRI-AI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Tagline:</a:t>
            </a:r>
            <a:r>
              <a:rPr lang="en-US" altLang="en-US" sz="18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alt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Outsmart hackers. Automatically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Team Name: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alt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LNC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Event: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DevCraft: Simon’s Command Line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Date</a:t>
            </a:r>
            <a:r>
              <a:rPr lang="en-US" alt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6/04/2026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Domain: </a:t>
            </a:r>
            <a:r>
              <a:rPr lang="en-US" alt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CYBERSECURITY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9931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08B3B-0FDC-937D-B730-D2DCFE2DB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EA4A0CE-87ED-FA30-F1CA-9ABEA24119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97E70B9-3D8E-AC8C-FD71-33A8999FB4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064752" cy="948372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Problem Statement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6C42E2-B03A-1F39-A18A-616A4BA032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4376" y="1679194"/>
            <a:ext cx="9144000" cy="4526978"/>
          </a:xfrm>
        </p:spPr>
        <p:txBody>
          <a:bodyPr>
            <a:normAutofit/>
          </a:bodyPr>
          <a:lstStyle/>
          <a:p>
            <a:r>
              <a:rPr lang="en-IN" sz="2200" dirty="0"/>
              <a:t>Every startup building on the web is a target. Yet the security tools available today force founders to choose between two bad options: pay enormous sums for manual experts, or use noisy automated scanners that generate more confusion than clarity.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200" dirty="0"/>
              <a:t>Budget Constraints: Startups face critical security vulnerabilities but often lack the capital for full-time security teams or expensive manual penetration tests.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200" dirty="0"/>
              <a:t>Development Velocity vs. Security: High-paced agility and deployment cycles lead to overlooked logic flaws, injection points, and misconfigurations.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200" dirty="0"/>
              <a:t>Actionability Gap: Developers often receive generic vulnerability scan reports filled with false positives, lacking clear, actionable code remediations. This stalls security fixes.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01397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8582DC-8B8F-5773-F3B9-0B382CCDC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1D13157-B955-921F-107B-76F8794C04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4BE8F45-6E88-24FC-6BE1-2BF874E6C8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948372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Target Audience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3BAFA5F-80E0-9609-62C6-6BBC4312EE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6095424"/>
              </p:ext>
            </p:extLst>
          </p:nvPr>
        </p:nvGraphicFramePr>
        <p:xfrm>
          <a:off x="1774371" y="1735494"/>
          <a:ext cx="8643257" cy="460932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85589">
                  <a:extLst>
                    <a:ext uri="{9D8B030D-6E8A-4147-A177-3AD203B41FA5}">
                      <a16:colId xmlns:a16="http://schemas.microsoft.com/office/drawing/2014/main" val="605537730"/>
                    </a:ext>
                  </a:extLst>
                </a:gridCol>
                <a:gridCol w="6057668">
                  <a:extLst>
                    <a:ext uri="{9D8B030D-6E8A-4147-A177-3AD203B41FA5}">
                      <a16:colId xmlns:a16="http://schemas.microsoft.com/office/drawing/2014/main" val="3663178191"/>
                    </a:ext>
                  </a:extLst>
                </a:gridCol>
              </a:tblGrid>
              <a:tr h="9051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Early-Stage Startups</a:t>
                      </a:r>
                      <a:endParaRPr lang="en-IN" sz="1100">
                        <a:solidFill>
                          <a:srgbClr val="0D1B2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>
                          <a:effectLst/>
                        </a:rPr>
                        <a:t>Pre-Series A companies building their first production product. They handle real user data but have no dedicated security engineer. SENTRI AI acts as their first line of defence.</a:t>
                      </a:r>
                      <a:endParaRPr lang="en-IN" sz="1100" dirty="0">
                        <a:solidFill>
                          <a:srgbClr val="0D1B2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931347151"/>
                  </a:ext>
                </a:extLst>
              </a:tr>
              <a:tr h="993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Solo Founders</a:t>
                      </a:r>
                      <a:endParaRPr lang="en-IN" sz="1100">
                        <a:solidFill>
                          <a:srgbClr val="0D1B2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>
                          <a:effectLst/>
                        </a:rPr>
                        <a:t>Technical founders wearing every hat — developer, product manager, and now security officer. SENTRI AI automates the security function so they can stay focused on shipping.</a:t>
                      </a:r>
                      <a:endParaRPr lang="en-IN" sz="1100" dirty="0">
                        <a:solidFill>
                          <a:srgbClr val="0D1B2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315963207"/>
                  </a:ext>
                </a:extLst>
              </a:tr>
              <a:tr h="993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Small Dev Teams (2–10)</a:t>
                      </a:r>
                      <a:endParaRPr lang="en-IN" sz="1100">
                        <a:solidFill>
                          <a:srgbClr val="0D1B2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>
                          <a:effectLst/>
                        </a:rPr>
                        <a:t>Fast-moving engineering teams without a dedicated DevOps or SecOps resource. SENTRI AI integrates into their workflow without slowing them down.</a:t>
                      </a:r>
                      <a:endParaRPr lang="en-IN" sz="1100" dirty="0">
                        <a:solidFill>
                          <a:srgbClr val="0D1B2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074726530"/>
                  </a:ext>
                </a:extLst>
              </a:tr>
              <a:tr h="993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Security Consultants</a:t>
                      </a:r>
                      <a:endParaRPr lang="en-IN" sz="1100">
                        <a:solidFill>
                          <a:srgbClr val="0D1B2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>
                          <a:effectLst/>
                        </a:rPr>
                        <a:t>Freelance penetration testers and security auditors who want to scale their service capacity. SENTRI AI acts as a powerful force-multiplier, letting them cover more clients simultaneously.</a:t>
                      </a:r>
                      <a:endParaRPr lang="en-IN" sz="1100" dirty="0">
                        <a:solidFill>
                          <a:srgbClr val="0D1B2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543451251"/>
                  </a:ext>
                </a:extLst>
              </a:tr>
              <a:tr h="7227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Growth-Stage Companies</a:t>
                      </a:r>
                      <a:endParaRPr lang="en-IN" sz="1100">
                        <a:solidFill>
                          <a:srgbClr val="0D1B2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>
                          <a:effectLst/>
                        </a:rPr>
                        <a:t>Companies scaling rapidly who need continuous security coverage as their attack surface expands with every new feature and integration.</a:t>
                      </a:r>
                      <a:endParaRPr lang="en-IN" sz="1100" dirty="0">
                        <a:solidFill>
                          <a:srgbClr val="0D1B2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701742732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ADA8DCF1-6794-A8BD-29CC-A2BB76276B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268128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7316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C0F17-D71F-4E5D-8264-47A9F6A26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9C68430-CC32-D06A-B654-DB3AF9A537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C4DFB8E-8883-9ACA-6E6F-AA08D471DC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948372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Existing Solutions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A777F7-5DF7-00AA-33D5-7B51765C0DA6}"/>
              </a:ext>
            </a:extLst>
          </p:cNvPr>
          <p:cNvSpPr txBox="1"/>
          <p:nvPr/>
        </p:nvSpPr>
        <p:spPr>
          <a:xfrm>
            <a:off x="975360" y="1772420"/>
            <a:ext cx="10241280" cy="32508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2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Legacy SAST/DAST Tools (e.g., OWASP ZAP, SonarQube): Often noisy, produce high false-positive rates, and require manual verification.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2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Enterprise Scanners (e.g., Tenable, Qualys): Complex onboarding processes, bloated feature sets, and highly expensive for startups.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2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Bug Bounty Platforms (e.g., Hacker One): Reactive approaches that depend on external availability; you only find out you are vulnerable when someone else finds it.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Shortcoming: None of these solutions offer real-time, zero-latency AI deductive reasoning coupled with direct, copy-paste remediation generation.</a:t>
            </a: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2361418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E8092-3A14-DA37-5C79-FFB96B58F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D6E1A02-DDF7-89F3-98B0-23412617B5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B15C0A3-67F8-05CD-6B78-1C156A8A83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1039812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Gaps &amp; Opportunities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B9272C-21BB-FC22-D358-FB4BA9D50E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819656"/>
            <a:ext cx="9144000" cy="3666744"/>
          </a:xfrm>
        </p:spPr>
        <p:txBody>
          <a:bodyPr>
            <a:normAutofit lnSpcReduction="100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The Gap in Automation: Traditional automated scanners only look for known CVEs (signatures) and lack contextual understanding of business application logic.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 The Gap in Manual Testing: Manual </a:t>
            </a:r>
            <a:r>
              <a:rPr lang="en-IN" dirty="0" err="1"/>
              <a:t>pentesting</a:t>
            </a:r>
            <a:r>
              <a:rPr lang="en-IN" dirty="0"/>
              <a:t> is cost-prohibitive and time-consuming, offering only a point-in-time snapshot of security.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 The Opportunity (AI): Leveraging LLMs (Large Language Models) provides human-level deductive reasoning combined with the relentless speed and availability of a machine.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 The Opportunity (DevSecOps): Delivering pinpoint code-remediation instantly bridges the gap between finding a flaw and actually fixing it.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08016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4A417-F70C-76F1-8DA7-9F84EA24E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8AD5367-3E92-5729-6FD7-273C70AADE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287607C-AF5E-2567-232F-3994FF9F27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948372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Your Solution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BD9A0F-685D-2B29-DBD0-99378586E5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865376"/>
            <a:ext cx="9144000" cy="3657600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200" dirty="0"/>
              <a:t>An intelligent, automated vulnerability scanning dashboard built specifically to protect startup infrastructure.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200" dirty="0"/>
              <a:t> Deep Crawling: Integrates Playwright for deep structural web crawling to map live forms, inputs, and routing topologies.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200" dirty="0"/>
              <a:t>Zero-Latency AI: Employs </a:t>
            </a:r>
            <a:r>
              <a:rPr lang="en-IN" sz="2200" dirty="0" err="1"/>
              <a:t>Groq's</a:t>
            </a:r>
            <a:r>
              <a:rPr lang="en-IN" sz="2200" dirty="0"/>
              <a:t> Llama 3 models for near-instant, deductive security reasoning to hypothesize and discover vulnerabilities autonomously.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200" dirty="0"/>
              <a:t>Developer-First: Delivers developer-ready remediation payloads instead of merely raising alerts, acting as an automated Security Engineer.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3479144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72507-FD22-2E16-53F4-E66535A41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FBCE28E-E731-156C-EDC9-D5CD678B6D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C95F80B-DB77-DFBE-02AB-06459A8C98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948372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Key Features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0A093E-F6A2-06B2-265C-B880832BEA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075688"/>
            <a:ext cx="9144000" cy="3529584"/>
          </a:xfrm>
        </p:spPr>
        <p:txBody>
          <a:bodyPr>
            <a:normAutofit fontScale="85000" lnSpcReduction="100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b="1" dirty="0"/>
              <a:t>Automated Attack Surface Discovery</a:t>
            </a:r>
            <a:r>
              <a:rPr lang="en-IN" dirty="0"/>
              <a:t>: Deep-crawls target web apps to extract topologies without tedious manual configuration.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b="1" dirty="0"/>
              <a:t>AI-Driven Vulnerability Engine</a:t>
            </a:r>
            <a:r>
              <a:rPr lang="en-IN" dirty="0"/>
              <a:t>: Utilizes heavily constrained, low-temperature LLMs (Llama-3.3-70b-versatile) trained on hacker methodologies to identify logic flaws.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b="1" dirty="0"/>
              <a:t>Remediation Guru</a:t>
            </a:r>
            <a:r>
              <a:rPr lang="en-IN" dirty="0"/>
              <a:t>: Automatically architects deterministic, copy-paste ready code fixes for every vulnerability discovered.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b="1" dirty="0"/>
              <a:t>Dynamic Risk Grading</a:t>
            </a:r>
            <a:r>
              <a:rPr lang="en-IN" dirty="0"/>
              <a:t>: Calculates and grades overall application risk scores in real-time.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b="1" dirty="0"/>
              <a:t>PDF Intelligence Reports</a:t>
            </a:r>
            <a:r>
              <a:rPr lang="en-IN" dirty="0"/>
              <a:t>: Seamlessly export a complete, multi-page security audit directly from the dashboard.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b="1" dirty="0"/>
              <a:t>Cyberpunk UI</a:t>
            </a:r>
            <a:r>
              <a:rPr lang="en-IN" dirty="0"/>
              <a:t>: A visually stunning, highly-responsive hacker aesthetic interface.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72100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9CE99-2961-B95A-6509-047601B34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25206E9-DF7E-9DFF-CAC2-03673EB754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81795BD-090E-6657-E419-87C2FF670F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948372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System Architecture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C50FCDF-7DDE-9EF8-49BD-1E19C4F57E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5536" y="1600200"/>
            <a:ext cx="5241816" cy="4775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3139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081B4-DCB3-98E2-06A8-576EFC806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517783E-C433-A152-F467-61CD75CD35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F1FA6C2-5A0A-1FF0-1EBE-5E203A16E6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948372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Tech Stack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679BA1-238F-16C1-81DD-F89092E266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97152" y="2667444"/>
            <a:ext cx="9144000" cy="3538728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200" b="1" dirty="0"/>
              <a:t>Frontend</a:t>
            </a:r>
            <a:r>
              <a:rPr lang="en-IN" sz="2200" dirty="0"/>
              <a:t>: React 18, Vite, Tailwind CSS v4, Framer Motion, Lucide React, jsPDF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200" b="1" dirty="0"/>
              <a:t>Backend</a:t>
            </a:r>
            <a:r>
              <a:rPr lang="en-IN" sz="2200" dirty="0"/>
              <a:t>: Node.js, Express.js, Playwright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200" b="1" dirty="0"/>
              <a:t>Artificial Intelligence Engine</a:t>
            </a:r>
            <a:r>
              <a:rPr lang="en-IN" sz="2200" dirty="0"/>
              <a:t>: Groq SDK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200" b="1" dirty="0"/>
              <a:t>AI Models</a:t>
            </a:r>
            <a:r>
              <a:rPr lang="en-IN" sz="2200" dirty="0"/>
              <a:t>: Llama 3.3 70B &amp; Llama 3.1 8B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1486831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51831-6846-427E-64BB-101402158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E831684-E944-D21A-AEB7-C0CD075684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2931271-7B83-E6B0-4697-A9B3A4A0B3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28444" y="423228"/>
            <a:ext cx="8135112" cy="533921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Montserrat" panose="00000500000000000000" pitchFamily="2" charset="0"/>
              </a:rPr>
              <a:t>Workflow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4194274-D5A3-2BA6-BCB2-90642404EA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8842" y="865708"/>
            <a:ext cx="4992624" cy="5730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1360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4B4F7-FDA6-CB2C-FBF6-FF68CF029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93A46E1-8AAF-D6D1-2341-6EA52C2B58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0305991-605D-A739-E358-CBE514272D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02180" y="642684"/>
            <a:ext cx="8135112" cy="533921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Montserrat" panose="00000500000000000000" pitchFamily="2" charset="0"/>
              </a:rPr>
              <a:t>Workflow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23C8B2B-C888-C0EE-A0CB-577FB960A0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352" y="1807540"/>
            <a:ext cx="5844782" cy="32216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AAA13C6-B77E-CD59-64AA-D3F2DFE385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1938" y="1807539"/>
            <a:ext cx="5239814" cy="3238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2441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2F5D3-4344-4362-805C-8F963B278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3FB6C13-3B8B-52D8-104D-1E08E396AD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8824925-7E47-111A-5B2A-714F7E54B7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948372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Impact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292949-4812-3723-5970-052C9D70C0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993392"/>
            <a:ext cx="9144000" cy="3657600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200" dirty="0"/>
              <a:t>Drastically reduces penetration testing and security auditing costs by upwards of 90% for startups.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200" dirty="0"/>
              <a:t>Shrinks vulnerability mean-time-to-remediation (MTTR) from weeks down to minutes through reliable copy-paste code fixes.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200" dirty="0"/>
              <a:t>Democratizes enterprise-grade security intelligence, making it accessible to solo founders and small engineering teams.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200" dirty="0"/>
              <a:t>Encourages a proactive, continuous security posture over reactive, point-in-time audits.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0012451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A0058-2A1B-9A2D-4ACF-404877CEE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9AED9E8-8E9E-772E-A148-23AF520FE6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F38C520-B6A8-E5A5-6C12-E50EB51E1C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948372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Future Scope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D0CB7A-4CE2-C98F-181A-2955692E4C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600200"/>
            <a:ext cx="9144000" cy="3657600"/>
          </a:xfrm>
        </p:spPr>
        <p:txBody>
          <a:bodyPr>
            <a:normAutofit fontScale="92500" lnSpcReduction="100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CI/CD Pipeline Integration: Embedding Sentri directly into GitHub Actions or GitLab CI to block vulnerable PR commits before they hit production.</a:t>
            </a:r>
            <a:r>
              <a:rPr lang="en-IN" b="1" dirty="0"/>
              <a:t> (Next 3 Months)</a:t>
            </a:r>
            <a:endParaRPr lang="en-IN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Multi-Agent Orchestration: Spawning specialized "sub-agents" dedicated to specific vulnerability classes (e.g., an agent strictly for Auth flaws, another for SQLi).</a:t>
            </a:r>
            <a:r>
              <a:rPr lang="en-IN" b="1" dirty="0"/>
              <a:t> (3–9 Months)</a:t>
            </a:r>
            <a:endParaRPr lang="en-IN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Safe Auto-Exploitation Mode: Generating and executing harmless payloads to verifiably prove a vulnerability exists before reporting it, driving false positives to zero.</a:t>
            </a:r>
            <a:r>
              <a:rPr lang="en-IN" b="1" dirty="0"/>
              <a:t> (9–18 Months)</a:t>
            </a:r>
            <a:endParaRPr lang="en-IN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Compliance Mapping: Automatically cross-referencing found vulnerabilities with SOC2, GDPR, and HIPAA compliance frameworks.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46772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C9BC0-B449-3880-DCF1-3623A9429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3C3DCD4-1187-52B4-EA97-0B89E26E6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C69965-D790-CADB-8E84-39390523C4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Team Info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8A35DE3-EB13-2BDB-C6EF-256EC4ACC71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4262806" y="3947288"/>
            <a:ext cx="3666388" cy="1474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8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NITIN :Backend</a:t>
            </a:r>
            <a:endParaRPr lang="en-US" sz="1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l"/>
            <a:r>
              <a:rPr lang="en-US" sz="18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Arsh </a:t>
            </a:r>
            <a:r>
              <a:rPr lang="en-US" sz="1800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Saiyed:Frontend</a:t>
            </a:r>
            <a:endParaRPr lang="en-US" sz="1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l"/>
            <a:r>
              <a:rPr lang="en-US" sz="18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Rithanya: AI - </a:t>
            </a:r>
            <a:r>
              <a:rPr lang="en-US" sz="1800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Intergration</a:t>
            </a:r>
            <a:endParaRPr lang="en-US" sz="1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l"/>
            <a:r>
              <a:rPr lang="en-US" sz="18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Dhruv Mehta: </a:t>
            </a:r>
            <a:r>
              <a:rPr lang="en-US" sz="1800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Github</a:t>
            </a:r>
            <a:r>
              <a:rPr lang="en-US" sz="18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/ Logics </a:t>
            </a:r>
            <a:endParaRPr lang="en-US" sz="1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53670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926</Words>
  <Application>Microsoft Office PowerPoint</Application>
  <PresentationFormat>Widescreen</PresentationFormat>
  <Paragraphs>68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Montserrat</vt:lpstr>
      <vt:lpstr>Open sans</vt:lpstr>
      <vt:lpstr>Office Theme</vt:lpstr>
      <vt:lpstr>SENTRI</vt:lpstr>
      <vt:lpstr>Problem Statement</vt:lpstr>
      <vt:lpstr>Target Audience</vt:lpstr>
      <vt:lpstr>Existing Solutions</vt:lpstr>
      <vt:lpstr>Gaps &amp; Opportunities</vt:lpstr>
      <vt:lpstr>Your Solution</vt:lpstr>
      <vt:lpstr>Key Features</vt:lpstr>
      <vt:lpstr>System Architecture</vt:lpstr>
      <vt:lpstr>Tech Stack</vt:lpstr>
      <vt:lpstr>Workflow</vt:lpstr>
      <vt:lpstr>Workflow</vt:lpstr>
      <vt:lpstr>Impact</vt:lpstr>
      <vt:lpstr>Future Scope</vt:lpstr>
      <vt:lpstr>Team Info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 Pranav</dc:creator>
  <cp:lastModifiedBy>Saiyed Arsh</cp:lastModifiedBy>
  <cp:revision>29</cp:revision>
  <dcterms:created xsi:type="dcterms:W3CDTF">2026-04-04T11:36:02Z</dcterms:created>
  <dcterms:modified xsi:type="dcterms:W3CDTF">2026-04-06T09:52:46Z</dcterms:modified>
</cp:coreProperties>
</file>